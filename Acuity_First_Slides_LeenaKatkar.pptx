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2E5090">
              <a:alpha val="55000"/>
            </a:srgbClr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457200"/>
            <a:ext cx="3200400" cy="3200400"/>
          </a:xfrm>
          <a:prstGeom prst="ellipse">
            <a:avLst/>
          </a:prstGeom>
          <a:solidFill>
            <a:srgbClr val="D4E3F7">
              <a:alpha val="18000"/>
            </a:srgbClr>
          </a:solidFill>
          <a:ln w="12700">
            <a:solidFill>
              <a:srgbClr val="D4E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58368"/>
            <a:ext cx="3108960" cy="329184"/>
          </a:xfrm>
          <a:prstGeom prst="roundRect">
            <a:avLst>
              <a:gd name="adj" fmla="val 41667"/>
            </a:avLst>
          </a:prstGeom>
          <a:solidFill>
            <a:srgbClr val="D4E3F7">
              <a:alpha val="20000"/>
            </a:srgbClr>
          </a:solidFill>
          <a:ln w="12700">
            <a:solidFill>
              <a:srgbClr val="D4E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83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4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 · CLINICAL DECISION MAKING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ACUITY-FIRST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048256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4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Decision Making &amp; AI-Driven Pattern Recognition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Equitable Hospital Bed Allocation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3218688"/>
            <a:ext cx="4114800" cy="0"/>
          </a:xfrm>
          <a:prstGeom prst="line">
            <a:avLst/>
          </a:prstGeom>
          <a:noFill/>
          <a:ln w="19050">
            <a:solidFill>
              <a:srgbClr val="D4E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015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Leena Rajan Katkar</a:t>
            </a:r>
            <a:pPr indent="0" marL="0">
              <a:buNone/>
            </a:pPr>
            <a:r>
              <a:rPr lang="en-US" sz="1200" dirty="0">
                <a:solidFill>
                  <a:srgbClr val="D4E3F7"/>
                </a:solidFill>
              </a:rPr>
              <a:t>  |  University of Southern California  |  June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8221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Assessment · Cotiviti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Beds Assigned by Profit, Not Patient Need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E8F5EE"/>
          </a:solidFill>
          <a:ln w="1524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4124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What Should Drive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Allocation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• Clinical acuity score (NEWS2)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• Physiological deterioration risk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• Disease severity &amp; trajectory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• Time-critical care requirements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58768" y="1353312"/>
            <a:ext cx="1097280" cy="10972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58768" y="1353312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120640" y="749808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DEDED"/>
          </a:solidFill>
          <a:ln w="1524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84124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What Actually Drives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Allocation (Today)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85232" y="1481328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• DRG contribution margin (1983→now)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• High-margin service lines prioritized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• Insurance type &amp; payer mix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• Elective procedures over urgent cases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3200400"/>
            <a:ext cx="8229600" cy="1536192"/>
          </a:xfrm>
          <a:prstGeom prst="roundRect">
            <a:avLst>
              <a:gd name="adj" fmla="val 5952"/>
            </a:avLst>
          </a:prstGeom>
          <a:solidFill>
            <a:srgbClr val="FFF8E6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291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Real-World Consequence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602736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COVID-19, SOFA-based ICU allocation protocols showed measurable racial inequity — Black and Hispanic patients required significantly higher illness severity scores than white patients to receive equivalent ICU beds. This is not an edge case; it is the structural outcome of historically biased data embedded in clinical AI. (NIHCM, 2022; Health Affairs, 2024)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Evolution: From Paper Scoring to Agentic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7772400" cy="0"/>
          </a:xfrm>
          <a:prstGeom prst="line">
            <a:avLst/>
          </a:prstGeom>
          <a:noFill/>
          <a:ln w="25400">
            <a:solidFill>
              <a:srgbClr val="E8E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987552"/>
            <a:ext cx="960120" cy="603504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987552"/>
            <a:ext cx="960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43200" cy="3154680"/>
          </a:xfrm>
          <a:prstGeom prst="roundRect">
            <a:avLst>
              <a:gd name="adj" fmla="val 3333"/>
            </a:avLst>
          </a:prstGeom>
          <a:solidFill>
            <a:srgbClr val="EFF3FB"/>
          </a:solidFill>
          <a:ln w="10160">
            <a:solidFill>
              <a:srgbClr val="1F3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71907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1974–2015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029968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Glasgow Coma Scale (1974)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APACHE ICU severity (1981)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DRG payment system (1983) — financial distortion begins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SOFA score (1994)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NEWS original (2012)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</a:rPr>
              <a:t>Paper-based, post-admission, siloed from bed ops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987552"/>
            <a:ext cx="960120" cy="6035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987552"/>
            <a:ext cx="960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627632"/>
            <a:ext cx="2743200" cy="3154680"/>
          </a:xfrm>
          <a:prstGeom prst="roundRect">
            <a:avLst>
              <a:gd name="adj" fmla="val 3333"/>
            </a:avLst>
          </a:prstGeom>
          <a:solidFill>
            <a:srgbClr val="E8F5EE"/>
          </a:solidFill>
          <a:ln w="1016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71907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2015–2025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2029968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NEWS2 validated (2017) — AUROC 0.86 for mortality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ML models: XGBoost, LSTM on MIMIC-III / eICU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Epic Deterioration Index, TeleTracking dashboards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ICU readmission prediction (Lancet, 2025)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</a:rPr>
              <a:t>Clinician-facing tools; still payer-blind; equity gaps documented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987552"/>
            <a:ext cx="960120" cy="6035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987552"/>
            <a:ext cx="960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627632"/>
            <a:ext cx="2743200" cy="315468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171907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2025–2030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73368" y="2029968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Agentic AI: continuous real-time acuity updates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Chain reasoning — explainable, auditable allocation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Time-series anomaly detection for early warning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• 80%+ of healthcare executives expect agentic AI value by end-2026 (Deloitte)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</a:rPr>
              <a:t>Payer-integrated, equity-audited, autonomous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NEWS2 — The Acuity Scoring Standard (Royal College of Physicians, 2017)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8503920" cy="512064"/>
          </a:xfrm>
          <a:prstGeom prst="rect">
            <a:avLst/>
          </a:prstGeom>
          <a:solidFill>
            <a:srgbClr val="F2F5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713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Rate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71323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≤8: +3  |  9–11: +1  |  12–20: 0  |  21–24: +2  |  ≥25: +3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8503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SpO₂ (Room Air)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2801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&lt;92%: +3  |  92–93%: +2  |  94–95%: +1  |  ≥96%: 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73936"/>
            <a:ext cx="8503920" cy="512064"/>
          </a:xfrm>
          <a:prstGeom prst="rect">
            <a:avLst/>
          </a:prstGeom>
          <a:solidFill>
            <a:srgbClr val="F2F5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47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O₂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84708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oxygen: +2  |  Room air: 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40864"/>
            <a:ext cx="8503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4140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Systolic BP (mmHg)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41401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≤90: +3  |  91–100: +2  |  101–110: +1  |  111–219: 0  |  ≥220: +3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8503920" cy="512064"/>
          </a:xfrm>
          <a:prstGeom prst="rect">
            <a:avLst/>
          </a:prstGeom>
          <a:solidFill>
            <a:srgbClr val="F2F5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809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 (bpm)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298094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≤40: +3  |  41–50: +1  |  51–90: 0  |  91–110: +1  |  111–130: +2  |  ≥131: +3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474720"/>
            <a:ext cx="8503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547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(°C)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354787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≤35.0: +3  |  35.1–36.0: +1  |  36.1–38.0: 0  |  38.1–39.0: +1  |  &gt;39.0: +2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041648"/>
            <a:ext cx="8503920" cy="512064"/>
          </a:xfrm>
          <a:prstGeom prst="rect">
            <a:avLst/>
          </a:prstGeom>
          <a:solidFill>
            <a:srgbClr val="F2F5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Consciousness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411480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Alert: 0  |  New Confusion: +3  |  Voice/Pain/Unresponsive: +3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590288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9028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0–4: General Ward  ·  Score 5–6 (or any single ≥3): Step-Down / HDU  ·  Score ≥7: ICU / Critical Care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ClinicalRoute AI — Acuity-First Bed Intelligence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64208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328416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92624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56832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1508760" cy="1828800"/>
          </a:xfrm>
          <a:prstGeom prst="roundRect">
            <a:avLst>
              <a:gd name="adj" fmla="val 6061"/>
            </a:avLst>
          </a:prstGeom>
          <a:solidFill>
            <a:srgbClr val="F5F8FF"/>
          </a:solidFill>
          <a:ln w="10160">
            <a:solidFill>
              <a:srgbClr val="E8EC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7955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280160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 Ingestion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8288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 streams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wearables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56816" y="658368"/>
            <a:ext cx="1508760" cy="1828800"/>
          </a:xfrm>
          <a:prstGeom prst="roundRect">
            <a:avLst>
              <a:gd name="adj" fmla="val 6061"/>
            </a:avLst>
          </a:prstGeom>
          <a:solidFill>
            <a:srgbClr val="F5F8FF"/>
          </a:solidFill>
          <a:ln w="10160">
            <a:solidFill>
              <a:srgbClr val="E8EC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56816" y="7955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56816" y="1280160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NEWS2+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56816" y="18288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ML-enhanced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scoring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39312" y="658368"/>
            <a:ext cx="1508760" cy="1828800"/>
          </a:xfrm>
          <a:prstGeom prst="roundRect">
            <a:avLst>
              <a:gd name="adj" fmla="val 6061"/>
            </a:avLst>
          </a:prstGeom>
          <a:solidFill>
            <a:srgbClr val="F5F8FF"/>
          </a:solidFill>
          <a:ln w="10160">
            <a:solidFill>
              <a:srgbClr val="E8EC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39312" y="7955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39312" y="1280160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39312" y="18288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Parameter-by-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logic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21808" y="658368"/>
            <a:ext cx="1508760" cy="1828800"/>
          </a:xfrm>
          <a:prstGeom prst="roundRect">
            <a:avLst>
              <a:gd name="adj" fmla="val 6061"/>
            </a:avLst>
          </a:prstGeom>
          <a:solidFill>
            <a:srgbClr val="EDF4FF"/>
          </a:solidFill>
          <a:ln w="19050">
            <a:solidFill>
              <a:srgbClr val="2E5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21808" y="7955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21808" y="1280160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21808" y="18288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 / HDU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/ OBS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04304" y="658368"/>
            <a:ext cx="1508760" cy="1828800"/>
          </a:xfrm>
          <a:prstGeom prst="roundRect">
            <a:avLst>
              <a:gd name="adj" fmla="val 6061"/>
            </a:avLst>
          </a:prstGeom>
          <a:solidFill>
            <a:srgbClr val="F5F8FF"/>
          </a:solidFill>
          <a:ln w="10160">
            <a:solidFill>
              <a:srgbClr val="E8EC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04304" y="7955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04304" y="1280160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04304" y="18288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monitor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HHS rule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706624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EF2F2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8056" y="28072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Today's Status Quo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" y="3108960"/>
            <a:ext cx="24871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Financial-margin-driven bed assignment with no payer oversight and no equity monitoring built in.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72968" y="2706624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EDF4FF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300984" y="28072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Cotiviti Unlocks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00984" y="3108960"/>
            <a:ext cx="24871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payer-facing acuity intelligence layer — audit hospitals on clinical necessity vs. DRG optimization.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25896" y="2706624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E8F5EE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53912" y="28072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Space in Market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53912" y="3108960"/>
            <a:ext cx="24871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major analytics vendor has productized an equity-audited, payer-facing bed allocation AI — this is Cotiviti's to take.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POC — ClinicalRoute AI: Live Acuity Scorer &amp; Priority Queue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POC Demonstrates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F2F5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NEWS2 Scoring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7-parameter real-time calculation per Royal College of Physicians specification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56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Chain Reasoning Display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93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vital sign shows its point contribution and deviation rationale — fully auditable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F2F5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42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Bed Type Classification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 / Step-Down / General Ward / Observation — driven by score, not payer type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29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Severity-First Queue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66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Multi-patient priority queue sorted by acuity (not insurance or DRG value)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169664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F2F5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15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Equity Monitoring Banner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453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decisions logged; queue explicitly rejects financial ordering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658368"/>
            <a:ext cx="4160520" cy="4297680"/>
          </a:xfrm>
          <a:prstGeom prst="roundRect">
            <a:avLst>
              <a:gd name="adj" fmla="val 2637"/>
            </a:avLst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8046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Scenario — Queue Preloaded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118872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A2F5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234440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48656" y="1261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 (Medicaid)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48656" y="15179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NEWS2: 14 → ICU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2084832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A2F5A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130552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48656" y="21579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B (Private PPO)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48656" y="24140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NEWS2: 8 → Step-Down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2980944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A2F5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026664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248656" y="30540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 (Medicare)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48656" y="33101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NEWS2: 2 → Gen. Ward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391363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4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Medicaid patient ranks #1 because clinical acuity is highest — not because they are most profitable.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&amp; Threats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7472" y="6035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36592" y="6035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0149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Value-Based Care Tailwind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31673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Industry-wide pivot to VBC aligns payer incentives with acuity-first allocation — reducing downstream complication costs.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1938528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03911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Edifecs Acquisition (Mar 2025)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340864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Cotiviti's expanded data interoperability enables multi-system EHR ingestion at scale for real-time acuity scoring.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962656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306324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HHS Anti-Discrimination Rule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364992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proposed rulemaking against discriminatory clinical algorithms creates demand for equity-audited AI tools.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986784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40873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Untapped White Space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438912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major analytics vendor offers a payer-facing, equity-audited bed allocation intelligence layer. First-mover advantage.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36592" y="9144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10149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Algorithmic Bias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131673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 on biased historical data perpetuate racial and socioeconomic disparities in ICU allocation (Health Affairs, 2024).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36592" y="1938528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64608" y="203911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Hospital Financial Resistance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2340864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DRG incentives benefit health systems; redirecting high-margin beds toward clinically urgent patients faces organizational friction.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2962656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306324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Data Privacy &amp; Governance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3364992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compliance, federated data governance, and cross-system EHR integration add deployment complexity.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36592" y="3986784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40873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AI Liability Uncertainty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438912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 legal landscape for autonomous clinical AI recommendations — clinician override mechanisms are mandatory.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 for Cotiviti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1325880"/>
          </a:xfrm>
          <a:prstGeom prst="roundRect">
            <a:avLst>
              <a:gd name="adj" fmla="val 6897"/>
            </a:avLst>
          </a:prstGeom>
          <a:solidFill>
            <a:srgbClr val="EDF4FF"/>
          </a:solidFill>
          <a:ln w="15240">
            <a:solidFill>
              <a:srgbClr val="1F3B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50976"/>
            <a:ext cx="694944" cy="694944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1872" y="749808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</a:rPr>
              <a:t>ClinicalRoute AI — 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Payer-Facing Acuity Intelligence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11556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real-time EHR vital streams → compute NEWS2-enhanced scores → generate chain-reasoning bed recommendations (ICU / HDU / General / OBS) → log every decision. Position within Payment Accuracy suite: payers can now audit hospital bed allocation decisions on clinical necessity grounds — a new dimension of payment integrity.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8503920" cy="1325880"/>
          </a:xfrm>
          <a:prstGeom prst="roundRect">
            <a:avLst>
              <a:gd name="adj" fmla="val 6897"/>
            </a:avLst>
          </a:prstGeom>
          <a:solidFill>
            <a:srgbClr val="E8F5EE"/>
          </a:solidFill>
          <a:ln w="1524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395728"/>
            <a:ext cx="694944" cy="69494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9572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61872" y="2194560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</a:rPr>
              <a:t>Equity Monitoring Module — 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Fairness Auditing as a Product Feature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256032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Disaggregate bed allocation outcomes by race, ethnicity, insurance type, and geography. Flag statistical disparities to payer clients in automated reports aligned with HHS 2022 anti-discrimination rulemaking. Operationalizing equity as a KPI — not a footnote — differentiates Cotiviti from every competitor in the analytics market.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547872"/>
            <a:ext cx="8503920" cy="1325880"/>
          </a:xfrm>
          <a:prstGeom prst="roundRect">
            <a:avLst>
              <a:gd name="adj" fmla="val 6897"/>
            </a:avLst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840480"/>
            <a:ext cx="694944" cy="69494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4048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61872" y="3639312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Agentic Pilot Program — 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2–3 Health System Partnerships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61872" y="4005072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an autonomous bed management agent that continuously monitors deterioration signals, auto-escalates acuity scores, and surfaces recommendations pre-crisis — with mandatory clinician override. Generate outcomes data (reduced ICU escalations, equity improvement) as the commercial evidence base for scaled enterprise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2E5090">
              <a:alpha val="50000"/>
            </a:srgbClr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D4E3F7">
              <a:alpha val="18000"/>
            </a:srgbClr>
          </a:solidFill>
          <a:ln w="12700">
            <a:solidFill>
              <a:srgbClr val="D4E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Now.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acuity data exists. The AI tools are proven.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4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equity mandate is regulatory. The white space is wide open.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304288"/>
            <a:ext cx="2743200" cy="0"/>
          </a:xfrm>
          <a:prstGeom prst="line">
            <a:avLst/>
          </a:prstGeom>
          <a:noFill/>
          <a:ln w="15240">
            <a:solidFill>
              <a:srgbClr val="D4E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78608"/>
            <a:ext cx="2286000" cy="1298448"/>
          </a:xfrm>
          <a:prstGeom prst="roundRect">
            <a:avLst>
              <a:gd name="adj" fmla="val 7042"/>
            </a:avLst>
          </a:prstGeom>
          <a:solidFill>
            <a:srgbClr val="162C54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066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04672" y="32369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— NEWS2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Mortality Prediction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(Siddiqui, 2025)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2578608"/>
            <a:ext cx="2286000" cy="1298448"/>
          </a:xfrm>
          <a:prstGeom prst="roundRect">
            <a:avLst>
              <a:gd name="adj" fmla="val 7042"/>
            </a:avLst>
          </a:prstGeom>
          <a:solidFill>
            <a:srgbClr val="162C54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7066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02152" y="32369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Executives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 Agentic AI Value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 (Deloitte)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2578608"/>
            <a:ext cx="2286000" cy="1298448"/>
          </a:xfrm>
          <a:prstGeom prst="roundRect">
            <a:avLst>
              <a:gd name="adj" fmla="val 7042"/>
            </a:avLst>
          </a:prstGeom>
          <a:solidFill>
            <a:srgbClr val="162C54"/>
          </a:solidFill>
          <a:ln w="635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27066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99632" y="32369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 Payer Clients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Clinical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Analytics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1879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Leena Rajan Katkar  ·  University of Southern California  ·  lkatkar@usc.edu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 Intern Assessment  ·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Acuity-First — ClinicalRoute AI</dc:title>
  <dc:subject>PptxGenJS Presentation</dc:subject>
  <dc:creator>Leena Rajan Katkar</dc:creator>
  <cp:lastModifiedBy>Leena Rajan Katkar</cp:lastModifiedBy>
  <cp:revision>1</cp:revision>
  <dcterms:created xsi:type="dcterms:W3CDTF">2026-06-25T18:34:01Z</dcterms:created>
  <dcterms:modified xsi:type="dcterms:W3CDTF">2026-06-25T18:34:01Z</dcterms:modified>
</cp:coreProperties>
</file>